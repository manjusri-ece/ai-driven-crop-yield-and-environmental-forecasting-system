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+tV/pL3nZpRBN4MfOwZVpXUU/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A96BD5-9E72-4ADF-8A70-14C372474AF6}">
  <a:tblStyle styleId="{FCA96BD5-9E72-4ADF-8A70-14C372474A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437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body" idx="1"/>
          </p:nvPr>
        </p:nvSpPr>
        <p:spPr>
          <a:xfrm>
            <a:off x="1105865" y="1351762"/>
            <a:ext cx="9980269" cy="459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38714" y="163944"/>
            <a:ext cx="1436362" cy="4220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9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body" idx="1"/>
          </p:nvPr>
        </p:nvSpPr>
        <p:spPr>
          <a:xfrm>
            <a:off x="1105865" y="1351762"/>
            <a:ext cx="9980269" cy="459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2.09363?utm_source=chatgpt.com" TargetMode="External"/><Relationship Id="rId7" Type="http://schemas.openxmlformats.org/officeDocument/2006/relationships/hyperlink" Target="https://medium.com/dataness-ai/understanding-temporal-fusion-transformer-9a7a4fcde74b?utm_source=chatgpt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ktime/pytorch-forecasting?utm_source=chatgpt.com" TargetMode="External"/><Relationship Id="rId5" Type="http://schemas.openxmlformats.org/officeDocument/2006/relationships/hyperlink" Target="https://arxiv.org/abs/1706.03762?utm_source=chatgpt.com" TargetMode="External"/><Relationship Id="rId4" Type="http://schemas.openxmlformats.org/officeDocument/2006/relationships/hyperlink" Target="https://pytorch-forecasting.readthedocs.io/en/latest/api/pytorch_forecasting.models.temporal_fusion_transformer.html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Google Shape;45;p1"/>
          <p:cNvGraphicFramePr/>
          <p:nvPr>
            <p:extLst>
              <p:ext uri="{D42A27DB-BD31-4B8C-83A1-F6EECF244321}">
                <p14:modId xmlns:p14="http://schemas.microsoft.com/office/powerpoint/2010/main" val="2066087748"/>
              </p:ext>
            </p:extLst>
          </p:nvPr>
        </p:nvGraphicFramePr>
        <p:xfrm>
          <a:off x="1060958" y="1397479"/>
          <a:ext cx="10021575" cy="3393819"/>
        </p:xfrm>
        <a:graphic>
          <a:graphicData uri="http://schemas.openxmlformats.org/drawingml/2006/table">
            <a:tbl>
              <a:tblPr firstRow="1" bandRow="1">
                <a:noFill/>
                <a:tableStyleId>{FCA96BD5-9E72-4ADF-8A70-14C372474AF6}</a:tableStyleId>
              </a:tblPr>
              <a:tblGrid>
                <a:gridCol w="255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0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47826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Project Title</a:t>
                      </a:r>
                      <a:endParaRPr sz="18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1275" marB="0"/>
                </a:tc>
                <a:tc>
                  <a:txBody>
                    <a:bodyPr/>
                    <a:lstStyle/>
                    <a:p>
                      <a:pPr marL="0" marR="74295" lvl="0" indent="0" algn="r" rtl="0">
                        <a:lnSpc>
                          <a:spcPct val="11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81915" marR="2413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Data-Driven Crop Yield Prediction Using Multi-Variate Time- Series Modeling</a:t>
                      </a:r>
                    </a:p>
                  </a:txBody>
                  <a:tcPr marL="0" marR="0" marT="11425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529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Description</a:t>
                      </a:r>
                      <a:endParaRPr sz="18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252725" marB="0"/>
                </a:tc>
                <a:tc>
                  <a:txBody>
                    <a:bodyPr/>
                    <a:lstStyle/>
                    <a:p>
                      <a:pPr marL="0" marR="742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9550" marB="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An AI-driven </a:t>
                      </a:r>
                      <a:r>
                        <a:rPr lang="en-US" sz="18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agro</a:t>
                      </a:r>
                      <a:r>
                        <a:rPr lang="en-US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-climate forecasting system that integrates IoT-based environmental monitoring and Temporal Fusion Transformer (TFT) models to predict crop yield and key agricultural parameters for data-driven farming decisions.</a:t>
                      </a:r>
                    </a:p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  <a:sym typeface="Verdana"/>
                      </a:endParaRPr>
                    </a:p>
                  </a:txBody>
                  <a:tcPr marL="0" marR="0" marT="625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128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155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SDG Addressed</a:t>
                      </a:r>
                      <a:endParaRPr sz="18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258450" marB="0"/>
                </a:tc>
                <a:tc>
                  <a:txBody>
                    <a:bodyPr/>
                    <a:lstStyle/>
                    <a:p>
                      <a:pPr marL="0" marR="7429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4475" marB="0"/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155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SDG 2 Zero Hunger</a:t>
                      </a:r>
                      <a:endParaRPr sz="18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258450" marB="0"/>
                </a:tc>
                <a:tc>
                  <a:txBody>
                    <a:bodyPr/>
                    <a:lstStyle/>
                    <a:p>
                      <a:pPr marL="878205" marR="0" lvl="0" indent="0" algn="l" rtl="0">
                        <a:lnSpc>
                          <a:spcPct val="1155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TRL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258450" marB="0"/>
                </a:tc>
                <a:tc>
                  <a:txBody>
                    <a:bodyPr/>
                    <a:lstStyle/>
                    <a:p>
                      <a:pPr marL="2451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44475" marB="0"/>
                </a:tc>
                <a:tc>
                  <a:txBody>
                    <a:bodyPr/>
                    <a:lstStyle/>
                    <a:p>
                      <a:pPr marL="83820" marR="0" lvl="0" indent="0" algn="l" rtl="0">
                        <a:lnSpc>
                          <a:spcPct val="1155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8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2584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1022705" y="1479930"/>
            <a:ext cx="10300335" cy="414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5080" lvl="0" indent="-2870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Agricultural productivity is significantly affected by environmental and climatic factors such as temperature, rainfall, humidity, and soil characteristics.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marR="9525" lvl="0" indent="-2870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Conventional crop yield prediction techniques often struggle to achieve high accuracy due to their inability to process complex and time-dependent agricultural data effectively.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marR="10160" lvl="0" indent="-2870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To address this challenge, this work employs the Temporal Fusion Transformer (TFT), a powerful deep learning architecture specialized for multivariate time-series forecasting and temporal pattern analysis.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marR="6350" lvl="0" indent="-2870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The proposed system utilizes weather data, soil parameters, and historical farming records to provide reliable and accurate crop yield predictions.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marR="8255" lvl="0" indent="-287020" algn="l" rtl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 addition, IoT-based sensors and Explainable AI methods are incorporated to support real-time field monitoring, interpretable predictions, and smart decision-making in modern agriculture.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59" name="Google Shape;59;p3"/>
          <p:cNvSpPr txBox="1"/>
          <p:nvPr/>
        </p:nvSpPr>
        <p:spPr>
          <a:xfrm>
            <a:off x="1121155" y="1389887"/>
            <a:ext cx="10247630" cy="414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9525" lvl="0" indent="-287020" algn="l" rtl="0">
              <a:lnSpc>
                <a:spcPct val="1501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Crop yield prediction is a complex process influenced  by dynamic climatic conditions and multiple environmental parameters.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marR="8255" lvl="0" indent="-2870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Conventional machine learning approaches often struggle to model long-term temporal patterns and intricate relationships present in agricultural time-series datasets.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lvl="0" indent="-286385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Many existing prediction systems also lack interpretability, making it difficult for farmers and agricultural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experts to identify the key factors affecting crop yield outcomes.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marR="8255" lvl="0" indent="-2870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Furthermore, the integration of real-time environmental monitoring with intelligent forecasting remains limited in current smart agriculture solutions.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lvl="0" indent="-286385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Therefore, there is a strong requirement for a reliable, explainable, and time-series driven crop yield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299085" lvl="0" indent="0" algn="l" rtl="0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prediction system to support advanced and data-driven agricultural practices.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Survey</a:t>
            </a:r>
            <a:endParaRPr/>
          </a:p>
        </p:txBody>
      </p:sp>
      <p:graphicFrame>
        <p:nvGraphicFramePr>
          <p:cNvPr id="65" name="Google Shape;65;p4"/>
          <p:cNvGraphicFramePr/>
          <p:nvPr/>
        </p:nvGraphicFramePr>
        <p:xfrm>
          <a:off x="679450" y="13652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{FCA96BD5-9E72-4ADF-8A70-14C372474AF6}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09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 / Technique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48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 Used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48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Strength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48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48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Statistical Models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48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Regression-based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forecasting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24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and interpretable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48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Poor nonlinear modeling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48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24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 Trees,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 Models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24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Better prediction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2400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Weak temporal learning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54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RNN / LSTM Models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54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Sequential deep learning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54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9253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Captures time dependencies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30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interpretability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54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 Models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54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8107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Attention-based forecasting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30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4803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Learns long-range dependencies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30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complexity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654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91440" marR="35306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 Smart Agriculture Systems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30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5222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Sensor-based monitoring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30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1432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environmental sensing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30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9083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AI forecasting integration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13025" marB="0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Existing Solution &amp; Gaps Analyzed</a:t>
            </a:r>
            <a:endParaRPr/>
          </a:p>
        </p:txBody>
      </p:sp>
      <p:graphicFrame>
        <p:nvGraphicFramePr>
          <p:cNvPr id="71" name="Google Shape;71;p5"/>
          <p:cNvGraphicFramePr/>
          <p:nvPr/>
        </p:nvGraphicFramePr>
        <p:xfrm>
          <a:off x="745490" y="15545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{FCA96BD5-9E72-4ADF-8A70-14C372474AF6}</a:tableStyleId>
              </a:tblPr>
              <a:tblGrid>
                <a:gridCol w="517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2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9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Existing Solutions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9235" marR="0" lvl="0" indent="0" algn="l" rtl="0">
                        <a:lnSpc>
                          <a:spcPct val="109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Gaps Identified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77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Traditional statistical forecasting methods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61925" marB="0"/>
                </a:tc>
                <a:tc>
                  <a:txBody>
                    <a:bodyPr/>
                    <a:lstStyle/>
                    <a:p>
                      <a:pPr marL="2292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Unable to capture complex nonlinear relationships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619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6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learning-based crop prediction systems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61925" marB="0"/>
                </a:tc>
                <a:tc>
                  <a:txBody>
                    <a:bodyPr/>
                    <a:lstStyle/>
                    <a:p>
                      <a:pPr marL="2292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Weak handling of temporal dependencies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619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 and RNN-based forecasting models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71750" marB="0"/>
                </a:tc>
                <a:tc>
                  <a:txBody>
                    <a:bodyPr/>
                    <a:lstStyle/>
                    <a:p>
                      <a:pPr marL="2292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interpretability and feature analysis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7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6125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Transformer-based prediction systems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38125" marB="0"/>
                </a:tc>
                <a:tc>
                  <a:txBody>
                    <a:bodyPr/>
                    <a:lstStyle/>
                    <a:p>
                      <a:pPr marL="229235" marR="18097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computational complexity and limited real- time integration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857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1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 agricultural monitoring systems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52100" marB="0"/>
                </a:tc>
                <a:tc>
                  <a:txBody>
                    <a:bodyPr/>
                    <a:lstStyle/>
                    <a:p>
                      <a:pPr marL="229235" marR="74422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intelligent forecasting and decision support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9970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1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Existing agricultural AI models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252100" marB="0"/>
                </a:tc>
                <a:tc>
                  <a:txBody>
                    <a:bodyPr/>
                    <a:lstStyle/>
                    <a:p>
                      <a:pPr marL="229235" marR="126174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unified framework for forecasting, explainability, and IoT integration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9080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Proposed Solution</a:t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1069339" y="1624330"/>
            <a:ext cx="10055225" cy="429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proposed system uses the Temporal Fusion Transformer (TFT) for intelligent crop yield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prediction using agricultural time-series data.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715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Environmental parameters such as temperature, humidity, rainfall, wind speed, and soil pH are processed for forecasting crop productivity.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	TFT	model	utilizes	Variable	Selection	Networks,	Multi-Head	Attention,	and	Gated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Residual Networks for effective temporal learning.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353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IoT sensors are integrated for real-time environmental monitoring and live agricultural data acquisition.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635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Explainable AI techniques provide feature importance and attention-based interpretation for transparent and reliable predictions.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 Diagram</a:t>
            </a:r>
            <a:endParaRPr/>
          </a:p>
        </p:txBody>
      </p:sp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1634" y="1225155"/>
            <a:ext cx="7595860" cy="5173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Prototype Image(Hardware)</a:t>
            </a:r>
            <a:endParaRPr/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2800" y="1558721"/>
            <a:ext cx="54864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Prototype Image(Software)</a:t>
            </a:r>
            <a:endParaRPr/>
          </a:p>
        </p:txBody>
      </p:sp>
      <p:pic>
        <p:nvPicPr>
          <p:cNvPr id="95" name="Google Shape;9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447850"/>
            <a:ext cx="8763000" cy="492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Prototype Image(Software)</a:t>
            </a:r>
            <a:endParaRPr/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1295400"/>
            <a:ext cx="8534400" cy="4795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16565" y="1040257"/>
            <a:ext cx="11863776" cy="5436743"/>
            <a:chOff x="16565" y="1040257"/>
            <a:chExt cx="11863776" cy="5436743"/>
          </a:xfrm>
        </p:grpSpPr>
        <p:pic>
          <p:nvPicPr>
            <p:cNvPr id="107" name="Google Shape;107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565" y="1040257"/>
              <a:ext cx="6045962" cy="54367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19799" y="1040257"/>
              <a:ext cx="5860542" cy="54367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0806" y="1054353"/>
            <a:ext cx="5217795" cy="5194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1060970"/>
            <a:ext cx="4749927" cy="510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Technology Stack Used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1504569" y="1475993"/>
            <a:ext cx="5721350" cy="414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3332479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Frontend	: React.js Backend API		: FastAPI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287020" lvl="0" indent="0" algn="l" rtl="0">
              <a:lnSpc>
                <a:spcPct val="18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Cloud Platform : Firebase (Realtime Database + Firestore) Embedded System : ESP8266 (NodeMCU)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Programming	: Embedded C++, JavaScript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49022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AI/ML	: Machine Learning-based Yield Prediction Communication	: WiFi-based IoT Architecture Database		: Firebase RTDB &amp; Firestore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UI Framework		: React + Modern Responsive Dashboard Hardware	: DHT11, Soil Moisture Sensor, OLED Display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Specifications</a:t>
            </a:r>
            <a:endParaRPr/>
          </a:p>
        </p:txBody>
      </p:sp>
      <p:graphicFrame>
        <p:nvGraphicFramePr>
          <p:cNvPr id="126" name="Google Shape;126;p14"/>
          <p:cNvGraphicFramePr/>
          <p:nvPr/>
        </p:nvGraphicFramePr>
        <p:xfrm>
          <a:off x="1201153" y="98539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{FCA96BD5-9E72-4ADF-8A70-14C372474AF6}</a:tableStyleId>
              </a:tblPr>
              <a:tblGrid>
                <a:gridCol w="67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2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27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 COMPONENTS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27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SPECIFICATIONS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27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27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76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 Microcontroller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76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3644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WiFi-enabled dual- core controller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₹450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76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DHT11 Sensor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Temperature &amp;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humidity monitoring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₹120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Soil Moisture Sensor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43815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Soil water content sensing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Breadboard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Circuit prototyping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₹80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Jumper Wires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17462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 interfacing connections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₹50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USB Cable &amp; Power Supply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29273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5V regulated power source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₹150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2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94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9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Connecting Components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9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61341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interfacing accessories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89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83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₹1050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838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Specifications</a:t>
            </a:r>
            <a:endParaRPr/>
          </a:p>
        </p:txBody>
      </p:sp>
      <p:graphicFrame>
        <p:nvGraphicFramePr>
          <p:cNvPr id="132" name="Google Shape;132;p15"/>
          <p:cNvGraphicFramePr/>
          <p:nvPr/>
        </p:nvGraphicFramePr>
        <p:xfrm>
          <a:off x="1977389" y="125018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{FCA96BD5-9E72-4ADF-8A70-14C372474AF6}</a:tableStyleId>
              </a:tblPr>
              <a:tblGrid>
                <a:gridCol w="68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65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SPECIFICATIONS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65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65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Programming Language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65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65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Jupyter Notebook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65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71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Colab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71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65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Temporal Fusion Transformer (TFT)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65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71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&amp; Time-Series Forecasting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71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18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Visualization and Analysis Tools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18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1"/>
          </p:nvPr>
        </p:nvSpPr>
        <p:spPr>
          <a:xfrm>
            <a:off x="1105865" y="1351762"/>
            <a:ext cx="9980269" cy="459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235" marR="7620" lvl="0" indent="-342900" algn="l" rtl="0">
              <a:lnSpc>
                <a:spcPct val="150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/>
              <a:t>The proposed TFT-based framework successfully predicts crop yield by utilizing agricultural time-series data with high efficiency.</a:t>
            </a:r>
            <a:endParaRPr/>
          </a:p>
          <a:p>
            <a:pPr marL="356235" marR="508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/>
              <a:t>Temporal learning mechanisms and multi-head attention enhance forecasting performance while improving the understanding of influential features.</a:t>
            </a:r>
            <a:endParaRPr/>
          </a:p>
          <a:p>
            <a:pPr marL="356235" lvl="0" indent="-34226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/>
              <a:t>The incorporation of IoT sensors facilitates real-time environmental data collection and</a:t>
            </a:r>
            <a:endParaRPr/>
          </a:p>
          <a:p>
            <a:pPr marL="356235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monitoring for smart agriculture systems.</a:t>
            </a:r>
            <a:endParaRPr/>
          </a:p>
          <a:p>
            <a:pPr marL="356235" marR="6985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/>
              <a:t>Explainable AI methods ensure transparent, reliable, and interpretable prediction outcomes for users and farmers.</a:t>
            </a:r>
            <a:endParaRPr/>
          </a:p>
          <a:p>
            <a:pPr marL="356235" marR="5080" lvl="0" indent="-342900" algn="l" rtl="0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/>
              <a:t>Overall,	the	developed	system	contributes	to	intelligent	agricultural	decision-making, efficient resource management, and advanced precision farming practices.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>
            <a:spLocks noGrp="1"/>
          </p:cNvSpPr>
          <p:nvPr>
            <p:ph type="title"/>
          </p:nvPr>
        </p:nvSpPr>
        <p:spPr>
          <a:xfrm>
            <a:off x="448157" y="342138"/>
            <a:ext cx="7874812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163827" y="1690242"/>
            <a:ext cx="10001885" cy="386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84785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Bryan Lim et al., “Temporal Fusion Transformers for Interpretable Multi-horizon Time Series Forecasting”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Paper</a:t>
            </a:r>
            <a:r>
              <a:rPr lang="en-US" sz="1800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3479800" lvl="0" indent="-1079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 startAt="2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PyTorch Forecasting – Temporal Fusion Transformer Documentation 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Forecasting Documentation</a:t>
            </a:r>
            <a:r>
              <a:rPr lang="en-US" sz="1800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Forecasting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4785" lvl="0" indent="-174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 startAt="2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Ashish Vaswani et al., “Attention Is All You Need”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Transformer Research Paper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6108700" lvl="0" indent="-1079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 startAt="4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PyTorch Forecasting GitHub Repository 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r>
              <a:rPr lang="en-US" sz="1800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1800"/>
              <a:buFont typeface="Times New Roman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6284595" lvl="0" indent="-1079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 startAt="4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Temporal Fusion Transformer Tutorial 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TFT Tutorial</a:t>
            </a:r>
            <a:r>
              <a:rPr lang="en-US" sz="1800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u="sng">
                <a:solidFill>
                  <a:srgbClr val="0462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6774306" y="4451730"/>
            <a:ext cx="4088129" cy="84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Thank You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Microsoft Office PowerPoint</Application>
  <PresentationFormat>Widescreen</PresentationFormat>
  <Paragraphs>165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Verdana</vt:lpstr>
      <vt:lpstr>Office Theme</vt:lpstr>
      <vt:lpstr>PowerPoint Presentation</vt:lpstr>
      <vt:lpstr>Introduction</vt:lpstr>
      <vt:lpstr>Problem Statement</vt:lpstr>
      <vt:lpstr>Literature Survey</vt:lpstr>
      <vt:lpstr>Existing Solution &amp; Gaps Analyzed</vt:lpstr>
      <vt:lpstr>Proposed Solution</vt:lpstr>
      <vt:lpstr>Block Diagram</vt:lpstr>
      <vt:lpstr>Prototype Image(Hardware)</vt:lpstr>
      <vt:lpstr>Prototype Image(Software)</vt:lpstr>
      <vt:lpstr>Prototype Image(Software)</vt:lpstr>
      <vt:lpstr>PowerPoint Presentation</vt:lpstr>
      <vt:lpstr>PowerPoint Presentation</vt:lpstr>
      <vt:lpstr>Technology Stack Used</vt:lpstr>
      <vt:lpstr>Specifications</vt:lpstr>
      <vt:lpstr>Specifications</vt:lpstr>
      <vt:lpstr>Conclusions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Vivek Kumar M</dc:creator>
  <cp:lastModifiedBy>Manju Sri</cp:lastModifiedBy>
  <cp:revision>1</cp:revision>
  <dcterms:created xsi:type="dcterms:W3CDTF">2026-05-08T00:14:26Z</dcterms:created>
  <dcterms:modified xsi:type="dcterms:W3CDTF">2026-06-14T06:12:25Z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2026-05-08T00:00:00Z</vt:filetime>
  </property>
  <property fmtid="{D5CDD505-2E9C-101B-9397-08002B2CF9AE}" pid="5" name="Producer">
    <vt:lpwstr>Microsoft® PowerPoint® 2021</vt:lpwstr>
  </property>
</Properties>
</file>